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unito SemiBold"/>
      <p:regular r:id="rId201314"/>
    </p:embeddedFont>
    <p:embeddedFont>
      <p:font typeface="PT Sans"/>
      <p:regular r:id="rId201315"/>
    </p:embeddedFont>
    <p:embeddedFont>
      <p:font typeface="P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542049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Banking Dashboard — Risk &amp; Decisions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4005659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Power BI dashboards to analyse lending risk and support loan decisions.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56653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Problem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98086" y="2443460"/>
            <a:ext cx="3012107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6560" y="2661940"/>
            <a:ext cx="25751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Understand Risk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6560" y="3074888"/>
            <a:ext cx="25751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Learn risk analytics in banking &amp; financial services.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909617" y="2443460"/>
            <a:ext cx="3012107" cy="1488281"/>
          </a:xfrm>
          <a:prstGeom prst="roundRect">
            <a:avLst>
              <a:gd name="adj" fmla="val 20105"/>
            </a:avLst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28091" y="2661940"/>
            <a:ext cx="25751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Minimise Loss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28091" y="3074888"/>
            <a:ext cx="25751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 data to reduce lending losses.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98086" y="4131171"/>
            <a:ext cx="6223638" cy="1169095"/>
          </a:xfrm>
          <a:prstGeom prst="roundRect">
            <a:avLst>
              <a:gd name="adj" fmla="val 25594"/>
            </a:avLst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6560" y="4349651"/>
            <a:ext cx="578669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Informed Decisions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6560" y="4762599"/>
            <a:ext cx="578669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Approve only likely-to-repay applicants.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1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2675796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About Dataset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69971" y="3552726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Multiple interlinked tables: Banking Relationship, Clients‑Banking, Gender, Investment Advisor, Period.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697831"/>
            <a:ext cx="3462152" cy="3462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3144" y="2422855"/>
            <a:ext cx="6846716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Cleaning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4653144" y="3085207"/>
            <a:ext cx="6846716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Engagement Timeframe — new column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Engagement Days — days since joining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Income Band — bins: Low &amp; Mid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Processing Fees — from Fee Structure (e.g., high → 0.05)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932225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Calculated Functions (DAX)</a:t>
            </a:r>
            <a:endParaRPr lang="en-US" sz="3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09155"/>
            <a:ext cx="498661" cy="4986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46077" y="1809155"/>
            <a:ext cx="54756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SUM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446077" y="2222103"/>
            <a:ext cx="54756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SUM(column) — e.g., Bank Deposit = SUM(Bank Deposits)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2940248"/>
            <a:ext cx="498661" cy="49867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46077" y="2940248"/>
            <a:ext cx="54756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DISTINCTCOUNT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446077" y="3353197"/>
            <a:ext cx="54756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Distinct count — Total Clients example</a:t>
            </a:r>
            <a:endParaRPr lang="en-US" sz="1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4071342"/>
            <a:ext cx="498661" cy="49867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46077" y="4071342"/>
            <a:ext cx="54756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SUMX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1446077" y="4484291"/>
            <a:ext cx="54756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Row-wise expression sum — Total Fees = SUMX(...)</a:t>
            </a:r>
            <a:endParaRPr lang="en-US" sz="15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086" y="5202436"/>
            <a:ext cx="498661" cy="49867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46077" y="5202436"/>
            <a:ext cx="54756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DATEDIFF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1446077" y="5615384"/>
            <a:ext cx="54756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Engagement Days = DATEDIFF(Joined,B Today(), DAY)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10022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KPIs — Overview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3076972"/>
            <a:ext cx="728347" cy="728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75763" y="3076972"/>
            <a:ext cx="15341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Clients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675763" y="3489920"/>
            <a:ext cx="153418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DISTINCTCOUNT(Client ID)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274" y="3076972"/>
            <a:ext cx="728347" cy="7283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36952" y="3076972"/>
            <a:ext cx="15341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Loan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436952" y="3489920"/>
            <a:ext cx="1534181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Bank Loan + Business Lending + Credit Cards Balance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63" y="3076972"/>
            <a:ext cx="728347" cy="7283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98140" y="3076972"/>
            <a:ext cx="15341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Deposit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198140" y="3489920"/>
            <a:ext cx="153418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Bank Deposit + Savings + FX + Checking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652" y="3076972"/>
            <a:ext cx="728446" cy="7284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59428" y="3076972"/>
            <a:ext cx="153418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Fees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959428" y="3489920"/>
            <a:ext cx="153418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SUMX(Total Loan * Processing Fees)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851694"/>
            <a:ext cx="5154484" cy="5154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5476" y="2033917"/>
            <a:ext cx="515448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Account Metrics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45476" y="2696270"/>
            <a:ext cx="5154484" cy="2263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Bank Loan = SUM(Bank Loans)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Business Lending = SUM(Business Lending)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Credit Card Balance = SUM(Credit Card Balance)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Checking Accounts = SUM(Checking Accounts)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Savings Account = SUM(Saving Accounts)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Foreign Currency = SUM(Foreign Currency Account)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22355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Visualizations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3200301"/>
            <a:ext cx="1456792" cy="9003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4349948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Home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274" y="3200301"/>
            <a:ext cx="1456792" cy="9003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59274" y="4349948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Loan Analysis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63" y="3200301"/>
            <a:ext cx="1456792" cy="90031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20463" y="4349948"/>
            <a:ext cx="251185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Deposit Analysis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652" y="3200301"/>
            <a:ext cx="1456892" cy="90041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981652" y="4350048"/>
            <a:ext cx="251195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Summary Dashboard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25193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Insights &amp; Implications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3128863"/>
            <a:ext cx="6223638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Identify total loan exposure by investor &amp; nationality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Discover which bank types hold more clients (e.g., private banks)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Inform strategy: client acquisition &amp; risk policies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Track engagement length and account activity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3F3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12" y="149523"/>
            <a:ext cx="4372461" cy="655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1765663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Conclusion &amp; Future Work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5269971" y="2642592"/>
            <a:ext cx="3012107" cy="2458541"/>
          </a:xfrm>
          <a:prstGeom prst="roundRect">
            <a:avLst>
              <a:gd name="adj" fmla="val 12171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2D4D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94795" y="2867422"/>
            <a:ext cx="256245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94795" y="3280370"/>
            <a:ext cx="2562459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Power BI dashboards effectively surface key banking KPIs for risk decisions.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481503" y="2642592"/>
            <a:ext cx="3012107" cy="2458541"/>
          </a:xfrm>
          <a:prstGeom prst="roundRect">
            <a:avLst>
              <a:gd name="adj" fmla="val 12171"/>
            </a:avLst>
          </a:prstGeom>
          <a:solidFill>
            <a:srgbClr val="F3F3FF">
              <a:alpha val="75000"/>
            </a:srgbClr>
          </a:solidFill>
          <a:ln w="25399">
            <a:solidFill>
              <a:srgbClr val="018C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06327" y="2867422"/>
            <a:ext cx="256245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706327" y="3280370"/>
            <a:ext cx="2562459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 dashboards to monitor total loans, client distribution, nationality insights, and account types to guide strategy.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2026-10-15T10:20:58Z</dcterms:created>
  <dcterms:modified xsi:type="dcterms:W3CDTF">2026-10-15T10:20:58Z</dcterms:modified>
</cp:coreProperties>
</file>